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Arial"/>
              </a:rPr>
              <a:t>Fleet subscription growth (network-wide)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fleet subscriptions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Yr 3</c:v>
                </c:pt>
                <c:pt idx="1">
                  <c:v>Yr 5</c:v>
                </c:pt>
                <c:pt idx="2">
                  <c:v>Yr 7</c:v>
                </c:pt>
                <c:pt idx="3">
                  <c:v>Yr 10+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80.3</c:v>
                </c:pt>
                <c:pt idx="2">
                  <c:v>110.7</c:v>
                </c:pt>
                <c:pt idx="3">
                  <c:v>140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32980000"/>
        <c:axId val="1032977280"/>
      </c:barChart>
      <c:catAx>
        <c:axId val="103298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1032977280"/>
        <c:crosses val="autoZero"/>
        <c:auto val="1"/>
        <c:lblAlgn val="ctr"/>
        <c:lblOffset val="100"/>
        <c:noMultiLvlLbl val="1"/>
      </c:catAx>
      <c:valAx>
        <c:axId val="103297728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032980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Arial"/>
              </a:rPr>
              <a:t>Revenue vs. operating cost ($M/yr)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Commercial revenue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Yr 3</c:v>
                </c:pt>
                <c:pt idx="1">
                  <c:v>Yr 6</c:v>
                </c:pt>
                <c:pt idx="2">
                  <c:v>Yr 10</c:v>
                </c:pt>
                <c:pt idx="3">
                  <c:v>Yr 15</c:v>
                </c:pt>
                <c:pt idx="4">
                  <c:v>Yr 20</c:v>
                </c:pt>
                <c:pt idx="5">
                  <c:v>Yr 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9.2447794200000004</c:v>
                </c:pt>
                <c:pt idx="1">
                  <c:v>32.026525718494</c:v>
                </c:pt>
                <c:pt idx="2">
                  <c:v>42.764382750128497</c:v>
                </c:pt>
                <c:pt idx="3">
                  <c:v>49.391407306394797</c:v>
                </c:pt>
                <c:pt idx="4">
                  <c:v>54.921249836450698</c:v>
                </c:pt>
                <c:pt idx="5">
                  <c:v>68.256425045511804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costs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Yr 3</c:v>
                </c:pt>
                <c:pt idx="1">
                  <c:v>Yr 6</c:v>
                </c:pt>
                <c:pt idx="2">
                  <c:v>Yr 10</c:v>
                </c:pt>
                <c:pt idx="3">
                  <c:v>Yr 15</c:v>
                </c:pt>
                <c:pt idx="4">
                  <c:v>Yr 20</c:v>
                </c:pt>
                <c:pt idx="5">
                  <c:v>Yr 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14.6</c:v>
                </c:pt>
                <c:pt idx="1">
                  <c:v>35.211696875000001</c:v>
                </c:pt>
                <c:pt idx="2">
                  <c:v>38.867124911405</c:v>
                </c:pt>
                <c:pt idx="3">
                  <c:v>43.974584336209404</c:v>
                </c:pt>
                <c:pt idx="4">
                  <c:v>49.753205876438699</c:v>
                </c:pt>
                <c:pt idx="5">
                  <c:v>63.688309866648602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32981632"/>
        <c:axId val="1032985440"/>
      </c:barChart>
      <c:catAx>
        <c:axId val="1032981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1032985440"/>
        <c:crosses val="autoZero"/>
        <c:auto val="1"/>
        <c:lblAlgn val="ctr"/>
        <c:lblOffset val="100"/>
        <c:noMultiLvlLbl val="1"/>
      </c:catAx>
      <c:valAx>
        <c:axId val="1032985440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103298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 dirty="0" err="1">
                <a:solidFill>
                  <a:schemeClr val="accent6">
                    <a:lumMod val="50000"/>
                  </a:schemeClr>
                </a:solidFill>
                <a:latin typeface="Arial"/>
              </a:rPr>
              <a:t>Capex</a:t>
            </a:r>
            <a:r>
              <a:rPr lang="en-US" sz="1200" b="0" i="0" u="none" strike="noStrike" dirty="0">
                <a:solidFill>
                  <a:schemeClr val="accent6">
                    <a:lumMod val="50000"/>
                  </a:schemeClr>
                </a:solidFill>
                <a:latin typeface="Arial"/>
              </a:rPr>
              <a:t> by category ($M, 2026 basis)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6">
                  <a:lumMod val="50000"/>
                </a:schemeClr>
              </a:solidFill>
              <a:effectLst/>
            </c:spPr>
          </c:dPt>
          <c:dPt>
            <c:idx val="1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effectLst/>
            </c:spPr>
          </c:dPt>
          <c:dPt>
            <c:idx val="2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effectLst/>
            </c:spPr>
          </c:dPt>
          <c:dPt>
            <c:idx val="3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effectLst/>
            </c:spPr>
          </c:dPt>
          <c:cat>
            <c:strRef>
              <c:f>Sheet1!$A$2:$A$5</c:f>
              <c:strCache>
                <c:ptCount val="4"/>
                <c:pt idx="0">
                  <c:v>Mega Hub</c:v>
                </c:pt>
                <c:pt idx="1">
                  <c:v>Regional (x3)</c:v>
                </c:pt>
                <c:pt idx="2">
                  <c:v>Corridor-support (x4)</c:v>
                </c:pt>
                <c:pt idx="3">
                  <c:v>Programwide (digital, PM, contingency)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50.1</c:v>
                </c:pt>
                <c:pt idx="2">
                  <c:v>31.4</c:v>
                </c:pt>
                <c:pt idx="3">
                  <c:v>20.6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Arial"/>
              </a:rPr>
              <a:t>Capital stack ($M)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Capital Stack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6">
                  <a:lumMod val="50000"/>
                </a:schemeClr>
              </a:solidFill>
              <a:effectLst/>
            </c:spPr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effectLst/>
            </c:spPr>
          </c:dPt>
          <c:dLbls>
            <c:dLbl>
              <c:idx val="0"/>
              <c:numFmt formatCode="&quot;$&quot;#,##0&quot;M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&quot;$&quot;#,##0&quot;M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$&quot;#,##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Debt (70%)</c:v>
                </c:pt>
                <c:pt idx="1">
                  <c:v>Equity (30%)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113.61122945375</c:v>
                </c:pt>
                <c:pt idx="1">
                  <c:v>48.690526908750002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 B — with availability payment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Yr 5</c:v>
                </c:pt>
                <c:pt idx="1">
                  <c:v>Yr 6</c:v>
                </c:pt>
                <c:pt idx="2">
                  <c:v>Yr 7</c:v>
                </c:pt>
                <c:pt idx="3">
                  <c:v>Yr 8</c:v>
                </c:pt>
                <c:pt idx="4">
                  <c:v>Yr 9</c:v>
                </c:pt>
                <c:pt idx="5">
                  <c:v>Yr 10</c:v>
                </c:pt>
                <c:pt idx="6">
                  <c:v>Yr 11</c:v>
                </c:pt>
                <c:pt idx="7">
                  <c:v>Yr 12</c:v>
                </c:pt>
                <c:pt idx="8">
                  <c:v>Yr 13</c:v>
                </c:pt>
                <c:pt idx="9">
                  <c:v>Yr 14</c:v>
                </c:pt>
                <c:pt idx="10">
                  <c:v>Yr 15</c:v>
                </c:pt>
                <c:pt idx="11">
                  <c:v>Yr 16</c:v>
                </c:pt>
                <c:pt idx="12">
                  <c:v>Yr 17</c:v>
                </c:pt>
                <c:pt idx="13">
                  <c:v>Yr 18</c:v>
                </c:pt>
                <c:pt idx="14">
                  <c:v>Yr 19</c:v>
                </c:pt>
                <c:pt idx="15">
                  <c:v>Yr 20</c:v>
                </c:pt>
                <c:pt idx="16">
                  <c:v>Yr 21</c:v>
                </c:pt>
                <c:pt idx="17">
                  <c:v>Yr 22</c:v>
                </c:pt>
                <c:pt idx="18">
                  <c:v>Yr 23</c:v>
                </c:pt>
                <c:pt idx="19">
                  <c:v>Yr 24</c:v>
                </c:pt>
                <c:pt idx="20">
                  <c:v>Yr 25</c:v>
                </c:pt>
                <c:pt idx="21">
                  <c:v>Yr 26</c:v>
                </c:pt>
                <c:pt idx="22">
                  <c:v>Yr 27</c:v>
                </c:pt>
                <c:pt idx="23">
                  <c:v>Yr 28</c:v>
                </c:pt>
                <c:pt idx="24">
                  <c:v>Yr 29</c:v>
                </c:pt>
                <c:pt idx="25">
                  <c:v>Yr 30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2.19</c:v>
                </c:pt>
                <c:pt idx="1">
                  <c:v>2.12</c:v>
                </c:pt>
                <c:pt idx="2">
                  <c:v>2.0699999999999998</c:v>
                </c:pt>
                <c:pt idx="3">
                  <c:v>2.04</c:v>
                </c:pt>
                <c:pt idx="4">
                  <c:v>2.0099999999999998</c:v>
                </c:pt>
                <c:pt idx="5">
                  <c:v>1.99</c:v>
                </c:pt>
                <c:pt idx="6">
                  <c:v>1.97</c:v>
                </c:pt>
                <c:pt idx="7">
                  <c:v>1.95</c:v>
                </c:pt>
                <c:pt idx="8">
                  <c:v>1.93</c:v>
                </c:pt>
                <c:pt idx="9">
                  <c:v>1.92</c:v>
                </c:pt>
                <c:pt idx="10">
                  <c:v>1.9</c:v>
                </c:pt>
                <c:pt idx="11">
                  <c:v>1.89</c:v>
                </c:pt>
                <c:pt idx="12">
                  <c:v>1.87</c:v>
                </c:pt>
                <c:pt idx="13">
                  <c:v>1.86</c:v>
                </c:pt>
                <c:pt idx="14">
                  <c:v>1.85</c:v>
                </c:pt>
                <c:pt idx="15">
                  <c:v>1.84</c:v>
                </c:pt>
                <c:pt idx="16">
                  <c:v>1.82</c:v>
                </c:pt>
                <c:pt idx="17">
                  <c:v>1.81</c:v>
                </c:pt>
                <c:pt idx="18">
                  <c:v>1.81</c:v>
                </c:pt>
                <c:pt idx="19">
                  <c:v>1.8</c:v>
                </c:pt>
                <c:pt idx="20">
                  <c:v>1.8</c:v>
                </c:pt>
                <c:pt idx="21">
                  <c:v>1.79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Case A — user fees only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Yr 5</c:v>
                </c:pt>
                <c:pt idx="1">
                  <c:v>Yr 6</c:v>
                </c:pt>
                <c:pt idx="2">
                  <c:v>Yr 7</c:v>
                </c:pt>
                <c:pt idx="3">
                  <c:v>Yr 8</c:v>
                </c:pt>
                <c:pt idx="4">
                  <c:v>Yr 9</c:v>
                </c:pt>
                <c:pt idx="5">
                  <c:v>Yr 10</c:v>
                </c:pt>
                <c:pt idx="6">
                  <c:v>Yr 11</c:v>
                </c:pt>
                <c:pt idx="7">
                  <c:v>Yr 12</c:v>
                </c:pt>
                <c:pt idx="8">
                  <c:v>Yr 13</c:v>
                </c:pt>
                <c:pt idx="9">
                  <c:v>Yr 14</c:v>
                </c:pt>
                <c:pt idx="10">
                  <c:v>Yr 15</c:v>
                </c:pt>
                <c:pt idx="11">
                  <c:v>Yr 16</c:v>
                </c:pt>
                <c:pt idx="12">
                  <c:v>Yr 17</c:v>
                </c:pt>
                <c:pt idx="13">
                  <c:v>Yr 18</c:v>
                </c:pt>
                <c:pt idx="14">
                  <c:v>Yr 19</c:v>
                </c:pt>
                <c:pt idx="15">
                  <c:v>Yr 20</c:v>
                </c:pt>
                <c:pt idx="16">
                  <c:v>Yr 21</c:v>
                </c:pt>
                <c:pt idx="17">
                  <c:v>Yr 22</c:v>
                </c:pt>
                <c:pt idx="18">
                  <c:v>Yr 23</c:v>
                </c:pt>
                <c:pt idx="19">
                  <c:v>Yr 24</c:v>
                </c:pt>
                <c:pt idx="20">
                  <c:v>Yr 25</c:v>
                </c:pt>
                <c:pt idx="21">
                  <c:v>Yr 26</c:v>
                </c:pt>
                <c:pt idx="22">
                  <c:v>Yr 27</c:v>
                </c:pt>
                <c:pt idx="23">
                  <c:v>Yr 28</c:v>
                </c:pt>
                <c:pt idx="24">
                  <c:v>Yr 29</c:v>
                </c:pt>
                <c:pt idx="25">
                  <c:v>Yr 30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-0.7</c:v>
                </c:pt>
                <c:pt idx="1">
                  <c:v>-0.28999999999999998</c:v>
                </c:pt>
                <c:pt idx="2">
                  <c:v>-0.01</c:v>
                </c:pt>
                <c:pt idx="3">
                  <c:v>0.14000000000000001</c:v>
                </c:pt>
                <c:pt idx="4">
                  <c:v>0.25</c:v>
                </c:pt>
                <c:pt idx="5">
                  <c:v>0.36</c:v>
                </c:pt>
                <c:pt idx="6">
                  <c:v>0.41</c:v>
                </c:pt>
                <c:pt idx="7">
                  <c:v>0.46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0.49</c:v>
                </c:pt>
                <c:pt idx="12">
                  <c:v>0.49</c:v>
                </c:pt>
                <c:pt idx="13">
                  <c:v>0.48</c:v>
                </c:pt>
                <c:pt idx="14">
                  <c:v>0.48</c:v>
                </c:pt>
                <c:pt idx="15">
                  <c:v>0.47</c:v>
                </c:pt>
                <c:pt idx="16">
                  <c:v>0.47</c:v>
                </c:pt>
                <c:pt idx="17">
                  <c:v>0.46</c:v>
                </c:pt>
                <c:pt idx="18">
                  <c:v>0.44</c:v>
                </c:pt>
                <c:pt idx="19">
                  <c:v>0.42</c:v>
                </c:pt>
                <c:pt idx="20">
                  <c:v>0.4</c:v>
                </c:pt>
                <c:pt idx="21">
                  <c:v>0.38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Lender threshold (1.35x)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Yr 5</c:v>
                </c:pt>
                <c:pt idx="1">
                  <c:v>Yr 6</c:v>
                </c:pt>
                <c:pt idx="2">
                  <c:v>Yr 7</c:v>
                </c:pt>
                <c:pt idx="3">
                  <c:v>Yr 8</c:v>
                </c:pt>
                <c:pt idx="4">
                  <c:v>Yr 9</c:v>
                </c:pt>
                <c:pt idx="5">
                  <c:v>Yr 10</c:v>
                </c:pt>
                <c:pt idx="6">
                  <c:v>Yr 11</c:v>
                </c:pt>
                <c:pt idx="7">
                  <c:v>Yr 12</c:v>
                </c:pt>
                <c:pt idx="8">
                  <c:v>Yr 13</c:v>
                </c:pt>
                <c:pt idx="9">
                  <c:v>Yr 14</c:v>
                </c:pt>
                <c:pt idx="10">
                  <c:v>Yr 15</c:v>
                </c:pt>
                <c:pt idx="11">
                  <c:v>Yr 16</c:v>
                </c:pt>
                <c:pt idx="12">
                  <c:v>Yr 17</c:v>
                </c:pt>
                <c:pt idx="13">
                  <c:v>Yr 18</c:v>
                </c:pt>
                <c:pt idx="14">
                  <c:v>Yr 19</c:v>
                </c:pt>
                <c:pt idx="15">
                  <c:v>Yr 20</c:v>
                </c:pt>
                <c:pt idx="16">
                  <c:v>Yr 21</c:v>
                </c:pt>
                <c:pt idx="17">
                  <c:v>Yr 22</c:v>
                </c:pt>
                <c:pt idx="18">
                  <c:v>Yr 23</c:v>
                </c:pt>
                <c:pt idx="19">
                  <c:v>Yr 24</c:v>
                </c:pt>
                <c:pt idx="20">
                  <c:v>Yr 25</c:v>
                </c:pt>
                <c:pt idx="21">
                  <c:v>Yr 26</c:v>
                </c:pt>
                <c:pt idx="22">
                  <c:v>Yr 27</c:v>
                </c:pt>
                <c:pt idx="23">
                  <c:v>Yr 28</c:v>
                </c:pt>
                <c:pt idx="24">
                  <c:v>Yr 29</c:v>
                </c:pt>
                <c:pt idx="25">
                  <c:v>Yr 30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1.35</c:v>
                </c:pt>
                <c:pt idx="1">
                  <c:v>1.35</c:v>
                </c:pt>
                <c:pt idx="2">
                  <c:v>1.35</c:v>
                </c:pt>
                <c:pt idx="3">
                  <c:v>1.35</c:v>
                </c:pt>
                <c:pt idx="4">
                  <c:v>1.35</c:v>
                </c:pt>
                <c:pt idx="5">
                  <c:v>1.35</c:v>
                </c:pt>
                <c:pt idx="6">
                  <c:v>1.35</c:v>
                </c:pt>
                <c:pt idx="7">
                  <c:v>1.35</c:v>
                </c:pt>
                <c:pt idx="8">
                  <c:v>1.35</c:v>
                </c:pt>
                <c:pt idx="9">
                  <c:v>1.35</c:v>
                </c:pt>
                <c:pt idx="10">
                  <c:v>1.35</c:v>
                </c:pt>
                <c:pt idx="11">
                  <c:v>1.35</c:v>
                </c:pt>
                <c:pt idx="12">
                  <c:v>1.35</c:v>
                </c:pt>
                <c:pt idx="13">
                  <c:v>1.35</c:v>
                </c:pt>
                <c:pt idx="14">
                  <c:v>1.35</c:v>
                </c:pt>
                <c:pt idx="15">
                  <c:v>1.35</c:v>
                </c:pt>
                <c:pt idx="16">
                  <c:v>1.35</c:v>
                </c:pt>
                <c:pt idx="17">
                  <c:v>1.35</c:v>
                </c:pt>
                <c:pt idx="18">
                  <c:v>1.35</c:v>
                </c:pt>
                <c:pt idx="19">
                  <c:v>1.35</c:v>
                </c:pt>
                <c:pt idx="20">
                  <c:v>1.35</c:v>
                </c:pt>
                <c:pt idx="21">
                  <c:v>1.35</c:v>
                </c:pt>
                <c:pt idx="22">
                  <c:v>1.35</c:v>
                </c:pt>
                <c:pt idx="23">
                  <c:v>1.35</c:v>
                </c:pt>
                <c:pt idx="24">
                  <c:v>1.35</c:v>
                </c:pt>
                <c:pt idx="25">
                  <c:v>1.35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2971296"/>
        <c:axId val="1032979456"/>
      </c:lineChart>
      <c:catAx>
        <c:axId val="103297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2979456"/>
        <c:crosses val="autoZero"/>
        <c:auto val="1"/>
        <c:lblAlgn val="ctr"/>
        <c:lblOffset val="100"/>
        <c:noMultiLvlLbl val="1"/>
      </c:catAx>
      <c:valAx>
        <c:axId val="1032979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DSCR (x)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2971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9638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</a:t>
            </a: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ALBERTA (PHASE 1)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for Government Support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availability payment is required to finance Alberta's </a:t>
            </a:r>
            <a:r>
              <a:rPr lang="en-US" sz="1400" i="1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corridor truck parking </a:t>
            </a: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400" i="1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safety </a:t>
            </a: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3383280" cy="960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074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8 site </a:t>
            </a: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773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Highway 2, 1, 16/43 &amp; 63 corridors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4297680"/>
            <a:ext cx="3383280" cy="960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4074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$162M program capex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4773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70% debt / 30% equity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4297680"/>
            <a:ext cx="3383280" cy="960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44074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30 year </a:t>
            </a: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concession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4773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Government of Alberta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submission to the Government of Alberta  ·  July 2026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FleetPods Alberta is, and where it operates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r>
              <a:rPr lang="en-US" sz="12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site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of truck parking and </a:t>
            </a:r>
            <a:r>
              <a:rPr lang="en-US" sz="12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cabin fatigue recovery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hubs, integrated with a digital compliance platform, built and operated under a </a:t>
            </a:r>
            <a:r>
              <a:rPr lang="en-US" sz="12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year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concession with the Government of Alberta.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82296" cy="621792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reservable truck parking and recovery pods at the most exposed points on Alberta's freight corridors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82296" cy="621792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</a:t>
            </a:r>
            <a:r>
              <a:rPr lang="en-US" sz="1150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 related </a:t>
            </a:r>
            <a:r>
              <a:rPr lang="en-US" sz="11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risk and better </a:t>
            </a:r>
            <a:r>
              <a:rPr lang="en-US" sz="1150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goods </a:t>
            </a:r>
            <a:r>
              <a:rPr lang="en-US" sz="11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(DG) accommodation, via verified rest events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82296" cy="621792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0624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level </a:t>
            </a:r>
            <a:r>
              <a:rPr lang="en-US" sz="11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for Alberta Transportation and enforcement, through an integrated mobile + backend platform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399032"/>
            <a:ext cx="5532120" cy="48463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PHASE 1 SITES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03720" y="20116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Calgary North / Airdrie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89720" y="20116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</a:t>
            </a: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Hwy 2 (QEII)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2359152"/>
            <a:ext cx="46177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23774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West Edmonton / Acheson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89720" y="23774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</a:t>
            </a: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Hwy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16/43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2724912"/>
            <a:ext cx="46177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7432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Red Deer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89720" y="2743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Hub </a:t>
            </a: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Hwy 2 corridor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03720" y="3090672"/>
            <a:ext cx="46177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1089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Fort </a:t>
            </a:r>
            <a:r>
              <a:rPr lang="en-US" sz="105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McMurray </a:t>
            </a: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Suncor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8972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Hub </a:t>
            </a: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Hwy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03720" y="3456432"/>
            <a:ext cx="46177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4747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Seebe / Cochrane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89720" y="34747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Corridor-support </a:t>
            </a: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Hwy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03720" y="3822192"/>
            <a:ext cx="46177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840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Brooks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89720" y="3840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Corridor-support </a:t>
            </a: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Hwy 1 East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03720" y="4187952"/>
            <a:ext cx="46177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42062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Medicine Hat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89720" y="42062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Corridor-support 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Hwy 1/3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03720" y="4553712"/>
            <a:ext cx="46177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4572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Whitecourt / Fox Creek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89720" y="45720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Corridor-support 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Hwy 43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0372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Mega Hub  ·  3 Regional Hubs  ·  4 Corridor-support Hubs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1)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Overview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network is built and operated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383485"/>
              </p:ext>
            </p:extLst>
          </p:nvPr>
        </p:nvGraphicFramePr>
        <p:xfrm>
          <a:off x="548640" y="1614619"/>
          <a:ext cx="5577840" cy="1563624"/>
        </p:xfrm>
        <a:graphic>
          <a:graphicData uri="http://schemas.openxmlformats.org/drawingml/2006/table">
            <a:tbl>
              <a:tblPr/>
              <a:tblGrid>
                <a:gridCol w="1737360"/>
                <a:gridCol w="640080"/>
                <a:gridCol w="1188720"/>
                <a:gridCol w="1097280"/>
                <a:gridCol w="9144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Typology</a:t>
                      </a:r>
                      <a:endParaRPr lang="en-US" sz="105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Stalls / site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Pods / site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from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Mega Hub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Hub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 (avg)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(avg)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Corridor-support Hub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(avg)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(avg)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phasing: a 4-year rollout. Gateway (Mega Hub) sites come online from Year 3; regional and corridor-support sites follow from Year 4, with construction phased and inflated at 3.5%/year.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4480560"/>
            <a:ext cx="5577840" cy="1691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617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49377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mobile app + backend platform spans all eight sites: reservations, geofenced verified rest events, DG monitoring, and corridor analytics for Alberta Transportation and enforcement agencies. Scales from ~6,000 active drivers / 50 fleets at Year 3 to 18,000+ drivers / 140 fleets by Year 10.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406917584"/>
              </p:ext>
            </p:extLst>
          </p:nvPr>
        </p:nvGraphicFramePr>
        <p:xfrm>
          <a:off x="6537960" y="155448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6537960" y="4480560"/>
            <a:ext cx="5120640" cy="1691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</p:sp>
      <p:sp>
        <p:nvSpPr>
          <p:cNvPr id="11" name="Text 7"/>
          <p:cNvSpPr/>
          <p:nvPr/>
        </p:nvSpPr>
        <p:spPr>
          <a:xfrm>
            <a:off x="6766560" y="4617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RAMP-UP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766560" y="49377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site ramps from 60% of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state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 its first year of operation to 100% by year five, reflecting gradual driver and fleet adoption of booked parking and recovery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this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 is the reason early-year cash flow is thin under Case A.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1)Government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Case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Operations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commercial revenue streams, network-wide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71323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82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 parking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834640" y="16824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stay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stay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 fees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32120" y="168249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r>
              <a:rPr lang="en-US" sz="950" b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8.50/stall hour </a:t>
            </a:r>
            <a:r>
              <a:rPr lang="en-US" sz="9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</a:t>
            </a:r>
            <a:endParaRPr lang="en-US" sz="9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6675120" cy="71323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2374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pods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4640" y="25237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Out-of-cabin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 recovery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32120" y="252374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$125/session</a:t>
            </a:r>
            <a:endParaRPr lang="en-US" sz="9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6675120" cy="71323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649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subscriptions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34640" y="33649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+ pod access, reporting, DG support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33649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50→140 fleets, ~$3,250/fleet/mo</a:t>
            </a:r>
            <a:endParaRPr lang="en-US" sz="9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6675120" cy="71323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34640" y="4206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backend access for drivers &amp; fleets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32120" y="4206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$0.6M → $1.85M/yr by Yr10</a:t>
            </a:r>
            <a:endParaRPr lang="en-US" sz="9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965192"/>
            <a:ext cx="6675120" cy="71323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4748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Ancillary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34640" y="50474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EV charging, food &amp; retail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504748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$0.2M–$1.5M/site/yr</a:t>
            </a:r>
            <a:endParaRPr lang="en-US" sz="9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per the original consultant brief; parking &amp; pod revenue reconciled to the Business Case's own </a:t>
            </a:r>
            <a:r>
              <a:rPr lang="en-US" sz="900" i="1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down steady state </a:t>
            </a: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revenue range.</a:t>
            </a:r>
            <a:endParaRPr lang="en-US" sz="90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2316812766"/>
              </p:ext>
            </p:extLst>
          </p:nvPr>
        </p:nvGraphicFramePr>
        <p:xfrm>
          <a:off x="7452360" y="155448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7452360" y="4937760"/>
            <a:ext cx="4206240" cy="1234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7" name="Text 24"/>
          <p:cNvSpPr/>
          <p:nvPr/>
        </p:nvSpPr>
        <p:spPr>
          <a:xfrm>
            <a:off x="7680960" y="5074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revenue grows steadily as the network ramps up </a:t>
            </a: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gets far enough ahead of operating costs to also cover debt service. That gap is exactly what Case A vs Case B tests.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1)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Revenue Streams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&amp; OPERATING COSTS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$162M capital program goes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342429513"/>
              </p:ext>
            </p:extLst>
          </p:nvPr>
        </p:nvGraphicFramePr>
        <p:xfrm>
          <a:off x="548640" y="15087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508760"/>
            <a:ext cx="5806440" cy="160020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STEADY-STATE OPERATING COSTS: ~$34-40M/YEAR</a:t>
            </a:r>
            <a:endParaRPr lang="en-US" sz="11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080760" y="20116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Staff, security &amp; cleaning (40-50%) 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·Utilities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(10-15%) 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·Repairs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maintenance (8-12%)  ·  Insurance (3-5%) 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IT/platform operations 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·Snow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removal 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·Property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taxes &amp; municipal charges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3291840"/>
            <a:ext cx="5806440" cy="150876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3429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PHASING</a:t>
            </a:r>
            <a:endParaRPr lang="en-US" sz="11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080760" y="374904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over a 4-year rollout, escalated at 3.5%/year for construction inflation ,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Hub weighted to Years 1-3, regional/corridor-support sites spread Years 1-4. Nominal program total: $162M (vs. $155M in 2026 real terms per the Business Case).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4937760"/>
            <a:ext cx="5806440" cy="1234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5074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Depreciation (CCA)</a:t>
            </a:r>
            <a:endParaRPr lang="en-US" sz="11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80760" y="53492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 using five standard CRA classes (Buildings 4%, Paving 8%, Furniture/Pods 20%, Clean Energy/EV 30%, Digital/IT 55%) </a:t>
            </a:r>
            <a:r>
              <a:rPr lang="en-US" sz="9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to the tax shield behind the equity return.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8640" y="4892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FleetPods Alberta Business Case, capital allocation by hub typology; consultant brief §6 (operating cost anchor, client-confirmed).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1)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Costs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STRUCTURE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transparent capital stack</a:t>
            </a:r>
            <a:endParaRPr lang="en-US" sz="3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406741760"/>
              </p:ext>
            </p:extLst>
          </p:nvPr>
        </p:nvGraphicFramePr>
        <p:xfrm>
          <a:off x="548640" y="1554480"/>
          <a:ext cx="48463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23811"/>
              </p:ext>
            </p:extLst>
          </p:nvPr>
        </p:nvGraphicFramePr>
        <p:xfrm>
          <a:off x="5852160" y="1554480"/>
          <a:ext cx="5806440" cy="3291840"/>
        </p:xfrm>
        <a:graphic>
          <a:graphicData uri="http://schemas.openxmlformats.org/drawingml/2006/table">
            <a:tbl>
              <a:tblPr/>
              <a:tblGrid>
                <a:gridCol w="3977640"/>
                <a:gridCol w="182880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program capex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$162M</a:t>
                      </a:r>
                      <a:endParaRPr 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Senior debt (70%)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$114M</a:t>
                      </a:r>
                      <a:endParaRPr 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(30%)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</a:t>
                      </a:r>
                      <a:r>
                        <a:rPr lang="en-US" sz="11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49M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 rate (flat, nominal)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6.0%</a:t>
                      </a:r>
                      <a:endParaRPr 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Grace period (interest capitalised)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years</a:t>
                      </a:r>
                      <a:endParaRPr 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Amortising tenor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years</a:t>
                      </a:r>
                      <a:endParaRPr 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minimum DSCR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1.35x</a:t>
                      </a:r>
                      <a:endParaRPr 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equity IRR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12-15%</a:t>
                      </a:r>
                      <a:endParaRPr 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193792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kept simple: a single 70/30 debt-equity tranche at a flat market rate </a:t>
            </a:r>
            <a:r>
              <a:rPr lang="en-US" sz="10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mezzanine layer at this stage. This is a client-confirmed simplification; it makes the model easier to audit without changing the core conclusion. A senior + mezzanine structure can be layered in once real lenders are engaged.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1)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Financing Structure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finding, in one sentence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234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government support, FleetPods Alberta cannot be financed. </a:t>
            </a: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targeted availability </a:t>
            </a:r>
            <a:r>
              <a:rPr lang="en-US" sz="15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sized </a:t>
            </a: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minimum the project needs, not a cent </a:t>
            </a:r>
            <a:r>
              <a:rPr lang="en-US" sz="15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</a:t>
            </a: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becomes a bankable, investment-grade infrastructure asset.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3566160" cy="2423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29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contribution in Case A — and the network still cannot cover its debt in any year of the concession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42816" y="3197836"/>
            <a:ext cx="3566160" cy="24231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3429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$19.3M/yr</a:t>
            </a:r>
            <a:endParaRPr lang="en-US" sz="3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90288" y="42976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calculated minimum availability payment that makes the project bankable (Case B, steady state)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83296" y="3154680"/>
            <a:ext cx="3566160" cy="2423160"/>
          </a:xfrm>
          <a:prstGeom prst="rect">
            <a:avLst/>
          </a:prstGeom>
          <a:solidFill>
            <a:srgbClr val="E7F7EE"/>
          </a:solidFill>
          <a:ln/>
        </p:spPr>
      </p:sp>
      <p:sp>
        <p:nvSpPr>
          <p:cNvPr id="13" name="Text 11"/>
          <p:cNvSpPr/>
          <p:nvPr/>
        </p:nvSpPr>
        <p:spPr>
          <a:xfrm>
            <a:off x="8357616" y="3429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57616" y="42976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Resulting equity return — inside the 12–15% range this type of infrastructure investment requires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from the accompanying financial model (Dashboard tab). Case A = fully user-funded. Case B = PPP with availability payment.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Phase 1)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The Finding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</a:t>
            </a:r>
            <a:r>
              <a:rPr lang="en-US" sz="1200" b="1" kern="0" spc="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(USER-FUNDED ONLY)</a:t>
            </a: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government support, the project fails</a:t>
            </a:r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A: every dollar of debt service must come from parking, pod, fleet, digital and ancillary fees alone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34540"/>
            <a:ext cx="4937760" cy="379476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-0.70x</a:t>
            </a:r>
            <a:endParaRPr lang="en-US" sz="52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debt service coverage ratio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Lenders require at least 1.0x just to break even, and 1.35x to consider a project financeable. Case A never gets </a:t>
            </a:r>
            <a:r>
              <a:rPr lang="en-US" sz="11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commercial 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fall short of covering debt service in every year of the debt term</a:t>
            </a:r>
            <a:r>
              <a:rPr lang="en-US" sz="1100" dirty="0">
                <a:solidFill>
                  <a:srgbClr val="8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4892040"/>
            <a:ext cx="4297680" cy="0"/>
          </a:xfrm>
          <a:prstGeom prst="line">
            <a:avLst/>
          </a:prstGeom>
          <a:noFill/>
          <a:ln w="12700">
            <a:solidFill>
              <a:srgbClr val="334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029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IRR: negative </a:t>
            </a:r>
            <a:r>
              <a:rPr lang="en-US" sz="11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never repaid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53218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NPV @ 13.5%: -$97M   ·   Payback: never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06440" y="19659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not a gap that time closes</a:t>
            </a:r>
            <a:endParaRPr lang="en-US" sz="15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06440" y="2423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Structural, not a start-up problem.</a:t>
            </a:r>
            <a:endParaRPr lang="en-US" sz="11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06440" y="269748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at full network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every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open, revenue fully ramped, 30 years of demand growth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alone still do not cover debt service.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3291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ramps; interest does not wait.</a:t>
            </a:r>
            <a:endParaRPr lang="en-US" sz="11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06440" y="356616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of booked parking and out-of-cabin recovery pods is gradual, but interest accrues from the first day of construction.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06440" y="41605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obligations must be built anyway.</a:t>
            </a:r>
            <a:endParaRPr lang="en-US" sz="11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06440" y="443484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demand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and northern sites are required for corridor coverage and DG accommodation, but are not commercially profitable on their own.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06440" y="50292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debt package means no project.</a:t>
            </a:r>
            <a:endParaRPr lang="en-US" sz="11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06440" y="530352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lender underwrites a structure that fails its coverage test in every year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punitive rate to compensate would only worsen coverage.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1) 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Case A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</a:t>
            </a:r>
            <a:r>
              <a:rPr lang="en-US" sz="1200" b="1" kern="0" spc="200" dirty="0" smtClean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(PPP </a:t>
            </a:r>
            <a:r>
              <a:rPr lang="en-US" sz="1200" b="1" kern="0" spc="200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AVAILABILITY </a:t>
            </a:r>
            <a:r>
              <a:rPr lang="en-US" sz="1200" b="1" kern="0" spc="200" dirty="0" smtClean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-4572" y="685800"/>
            <a:ext cx="12170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3000" b="1" dirty="0" smtClean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</a:t>
            </a:r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government availability payment, it works</a:t>
            </a:r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B: the same network, the same user fees, plus one additional calculated payment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937760" cy="3794760"/>
          </a:xfrm>
          <a:prstGeom prst="rect">
            <a:avLst/>
          </a:prstGeom>
          <a:solidFill>
            <a:srgbClr val="E7F7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1.79x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debt service coverage ratio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Comfortably above the 1.35x threshold lenders need  </a:t>
            </a:r>
            <a:r>
              <a:rPr lang="en-US" sz="11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 of the concession, not just on average.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4572000"/>
            <a:ext cx="4297680" cy="0"/>
          </a:xfrm>
          <a:prstGeom prst="line">
            <a:avLst/>
          </a:prstGeom>
          <a:noFill/>
          <a:ln w="12700">
            <a:solidFill>
              <a:srgbClr val="BFD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091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IRR: 13.5</a:t>
            </a:r>
            <a:r>
              <a:rPr lang="en-US" sz="1100" b="1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 </a:t>
            </a: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12–15% band investors require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51206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cost: $19.3M/yr steady state  ·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211M in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value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over 30 years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06440" y="19659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payment buys</a:t>
            </a:r>
            <a:endParaRPr lang="en-US" sz="15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06440" y="2423160"/>
            <a:ext cx="82296" cy="713232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40487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financeable project</a:t>
            </a:r>
            <a:endParaRPr lang="en-US" sz="11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35040" y="2679192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Lenders will underwrite the debt because coverage is protected in every year, not just on average.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3291840"/>
            <a:ext cx="82296" cy="713232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27355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fair, capped return</a:t>
            </a:r>
            <a:endParaRPr lang="en-US" sz="11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35040" y="3547872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earns 13.5%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open-ended guarantee. The payment does not grow if the project outperforms.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4160520"/>
            <a:ext cx="82296" cy="713232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414223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safety-critical sites built sooner</a:t>
            </a:r>
            <a:endParaRPr lang="en-US" sz="11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5040" y="4416552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 parking, driver-recovery pods and fatigue infrastructure that Alberta's own traffic and collision data already justifies.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5029200"/>
            <a:ext cx="82296" cy="713232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5042916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declining net burden over time</a:t>
            </a:r>
            <a:endParaRPr lang="en-US" sz="11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35040" y="5285232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payment is largest in the early operating years and tapers as commercial revenue ramps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bridge, not a permanent flat subsidy.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1) Government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Case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Case B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side, over the full 30-year term</a:t>
            </a:r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service coverage </a:t>
            </a:r>
            <a:r>
              <a:rPr lang="en-US" sz="12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</a:t>
            </a: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project is financeable above the 1.35x line, and cannot be financed below 1.0x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522600419"/>
              </p:ext>
            </p:extLst>
          </p:nvPr>
        </p:nvGraphicFramePr>
        <p:xfrm>
          <a:off x="548640" y="1965960"/>
          <a:ext cx="111099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A stays below the 1.0x break-even line for the entire debt term. Case B is held at or above the 1.35x lender threshold in every single year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makes the difference between a project that can be financed and one that cannot.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(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1) 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Comparison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PAYMENT IS SIZED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</a:t>
            </a:r>
            <a:r>
              <a:rPr lang="en-US" sz="3000" b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subsidy </a:t>
            </a: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calculated minimum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payment is sized by two hard tests inside the financial model, not chosen as a round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109960" cy="1234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31720"/>
            <a:ext cx="1051560" cy="5669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2212848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lenders be repaid?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057400" y="256032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payment tops up commercial cash flow until debt service coverage reaches 1.35x — the standard threshold project lenders require — in every year of the debt term.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109960" cy="1234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749040"/>
            <a:ext cx="1051560" cy="5669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4904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3630168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equity return fair, not excessive?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57400" y="397764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payment is then checked against a 12–15% equity return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range for infrastructure of this risk profile. It is not permitted to overshoot that band.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109960" cy="1371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349240"/>
            <a:ext cx="1051560" cy="566928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924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521208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$19.3M / year, steady state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57400" y="565099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figure that clears both tests. Peak payment $32.3M/yr in the early ramp-up years, tapering as commercial revenue matures. Present value to the Province over 30 years: ~$211M at a 6% discount rate.</a:t>
            </a:r>
            <a:endParaRPr lang="en-US" sz="10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1) 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Sizing Logic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TESTING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holds even if things go worse than planned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Traffic, capex, operating cost and interest-rate downside scenarios were tested against both cases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94332"/>
              </p:ext>
            </p:extLst>
          </p:nvPr>
        </p:nvGraphicFramePr>
        <p:xfrm>
          <a:off x="548640" y="1965960"/>
          <a:ext cx="11109960" cy="3218688"/>
        </p:xfrm>
        <a:graphic>
          <a:graphicData uri="http://schemas.openxmlformats.org/drawingml/2006/table">
            <a:tbl>
              <a:tblPr/>
              <a:tblGrid>
                <a:gridCol w="2880360"/>
                <a:gridCol w="1645920"/>
                <a:gridCol w="1645920"/>
                <a:gridCol w="1645920"/>
                <a:gridCol w="1645920"/>
                <a:gridCol w="164592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A </a:t>
                      </a:r>
                      <a:r>
                        <a:rPr lang="en-US" sz="1100" b="1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A </a:t>
                      </a:r>
                      <a:r>
                        <a:rPr lang="en-US" sz="1100" b="1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Bankable?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B </a:t>
                      </a:r>
                      <a:r>
                        <a:rPr lang="en-US" sz="1100" b="1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</a:t>
                      </a:r>
                      <a:r>
                        <a:rPr lang="en-US" sz="1100" b="1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IRR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B </a:t>
                      </a:r>
                      <a:r>
                        <a:rPr lang="en-US" sz="1100" b="1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Bankable?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-0.87x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-20%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-1.22x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-30%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-1.40x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+15%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-0.75x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Opex +15%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-1.30x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 +150bps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-0.74x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Downside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-1.16x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8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109960" cy="7772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5961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is identical in every scenario</a:t>
            </a: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fees never come close to covering debt service, no matter which assumption is stressed. The availability payment mechanism absorbs the shock instead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B's coverage and equity return are held at target in each case, with the cost of resilience appearing as a modestly larger payment rather than as a bankability failure.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 Alberta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1)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Stress Testing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 GOVERNMENT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good value for the Province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availability payment buys more than a parking </a:t>
            </a:r>
            <a:r>
              <a:rPr lang="en-US" sz="12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</a:t>
            </a: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buys a documented safety outcome, and a positive NPV position if the Province participates as equity partner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137160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762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safety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Organised, reservable rest capacity at the corridor points with the clearest fatigue risk </a:t>
            </a:r>
            <a:r>
              <a:rPr lang="en-US" sz="105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</a:t>
            </a: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the driver-fatigue factor in Alberta's collision data.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94960" cy="137160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762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Dangerous-goods risk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537960" y="25146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DG rest and layover from unsafe roadside stopping to monitored, purpose-built hubs with the right separation and capacity.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394960" cy="137160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764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enforcement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geofenced rest records supporting hours-of-service and TDG compliance, plus corridor analytics for enforcement agencies.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3611880"/>
            <a:ext cx="5394960" cy="137160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7764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coverage equity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4114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safe rest capacity on lower-traffic rural and northern segments that a purely commercial operator would under-serve or skip entirely.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11109960" cy="96012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4068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Province participates as an equity partner: 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capital that earns a negative return funding user-fee-based debt instead earns the target 12–15% return once channelled through the availability </a:t>
            </a:r>
            <a:r>
              <a:rPr lang="en-US" sz="11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negative-NPV position into a positive one, alongside the public safety and compliance benefits above</a:t>
            </a:r>
            <a:r>
              <a:rPr lang="en-US" sz="1100" dirty="0">
                <a:solidFill>
                  <a:srgbClr val="8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FleetPods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smtClea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Alberta (Phase 1)  </a:t>
            </a: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Financing Case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Value for Government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availability payment of $19.3M/year makes FleetPods Alberta bankable, safe, and </a:t>
            </a:r>
            <a:r>
              <a:rPr lang="en-US" sz="3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 money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516636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82219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Without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41148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Minimum DSCR -0.70x. No lender will finance the debt, equity is never repaid, and the network does not get built.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3657600"/>
            <a:ext cx="516636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382219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With 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41148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Minimum DSCR 1.79x, equity IRR 13.5%. A bankable, resilient, investment-grade network  </a:t>
            </a:r>
            <a:r>
              <a:rPr lang="en-US" sz="11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sized 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to the minimum contribution required</a:t>
            </a:r>
            <a:r>
              <a:rPr lang="en-US" sz="1100" dirty="0">
                <a:solidFill>
                  <a:srgbClr val="8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capex $162M  ·  8 sites  ·  30-year concession  ·  PV of availability payments ~$211M to the Province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detail, assumptions and sources: accompanying financial model (FleetPods Alberta Financial Model.xlsx) </a:t>
            </a:r>
            <a:r>
              <a:rPr lang="en-US" sz="950" i="1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Dashboard, Assumptions and Conclusion tabs.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2318</Words>
  <Application>Microsoft Office PowerPoint</Application>
  <PresentationFormat>Widescreen</PresentationFormat>
  <Paragraphs>283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 User</cp:lastModifiedBy>
  <cp:revision>8</cp:revision>
  <dcterms:created xsi:type="dcterms:W3CDTF">2026-07-24T12:40:28Z</dcterms:created>
  <dcterms:modified xsi:type="dcterms:W3CDTF">2026-07-24T14:36:16Z</dcterms:modified>
</cp:coreProperties>
</file>